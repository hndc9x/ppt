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59" r:id="rId3"/>
    <p:sldId id="262" r:id="rId4"/>
    <p:sldId id="260" r:id="rId5"/>
    <p:sldId id="261" r:id="rId6"/>
    <p:sldId id="263" r:id="rId7"/>
    <p:sldId id="266" r:id="rId8"/>
    <p:sldId id="264" r:id="rId9"/>
    <p:sldId id="265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B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 autoAdjust="0"/>
    <p:restoredTop sz="86199" autoAdjust="0"/>
  </p:normalViewPr>
  <p:slideViewPr>
    <p:cSldViewPr snapToGrid="0">
      <p:cViewPr varScale="1">
        <p:scale>
          <a:sx n="95" d="100"/>
          <a:sy n="95" d="100"/>
        </p:scale>
        <p:origin x="1020" y="8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FF8F9C-CA8C-4433-BFFD-676C99FABFA5}" type="datetimeFigureOut">
              <a:rPr lang="en-US" smtClean="0"/>
              <a:t>6/18/2020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55AFC-3130-4895-98CB-6639542D2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1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55AFC-3130-4895-98CB-6639542D29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85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1200" dirty="0">
                <a:latin typeface="Arial" panose="020B0604020202020204" pitchFamily="34" charset="0"/>
                <a:cs typeface="Arial" panose="020B0604020202020204" pitchFamily="34" charset="0"/>
              </a:rPr>
              <a:t>Là mẫu thiết kế thuộc </a:t>
            </a:r>
            <a:r>
              <a:rPr lang="en" sz="1200" b="1" dirty="0">
                <a:latin typeface="Arial" panose="020B0604020202020204" pitchFamily="34" charset="0"/>
                <a:cs typeface="Arial" panose="020B0604020202020204" pitchFamily="34" charset="0"/>
              </a:rPr>
              <a:t>Behavior Pattern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55AFC-3130-4895-98CB-6639542D29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1200" dirty="0">
                <a:latin typeface="Arial" panose="020B0604020202020204" pitchFamily="34" charset="0"/>
                <a:cs typeface="Arial" panose="020B0604020202020204" pitchFamily="34" charset="0"/>
              </a:rPr>
              <a:t>Là mẫu thiết kế thuộc </a:t>
            </a:r>
            <a:r>
              <a:rPr lang="en" sz="1200" b="1" dirty="0">
                <a:latin typeface="Arial" panose="020B0604020202020204" pitchFamily="34" charset="0"/>
                <a:cs typeface="Arial" panose="020B0604020202020204" pitchFamily="34" charset="0"/>
              </a:rPr>
              <a:t>Behavior Pattern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55AFC-3130-4895-98CB-6639542D29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90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1200" dirty="0">
                <a:latin typeface="Arial" panose="020B0604020202020204" pitchFamily="34" charset="0"/>
                <a:cs typeface="Arial" panose="020B0604020202020204" pitchFamily="34" charset="0"/>
              </a:rPr>
              <a:t>Là mẫu thiết kế thuộc </a:t>
            </a:r>
            <a:r>
              <a:rPr lang="en" sz="1200" b="1" dirty="0">
                <a:latin typeface="Arial" panose="020B0604020202020204" pitchFamily="34" charset="0"/>
                <a:cs typeface="Arial" panose="020B0604020202020204" pitchFamily="34" charset="0"/>
              </a:rPr>
              <a:t>Behavior Pattern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55AFC-3130-4895-98CB-6639542D29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1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1200" dirty="0">
                <a:latin typeface="Arial" panose="020B0604020202020204" pitchFamily="34" charset="0"/>
                <a:cs typeface="Arial" panose="020B0604020202020204" pitchFamily="34" charset="0"/>
              </a:rPr>
              <a:t>Là mẫu thiết kế thuộc </a:t>
            </a:r>
            <a:r>
              <a:rPr lang="en" sz="1200" b="1" dirty="0">
                <a:latin typeface="Arial" panose="020B0604020202020204" pitchFamily="34" charset="0"/>
                <a:cs typeface="Arial" panose="020B0604020202020204" pitchFamily="34" charset="0"/>
              </a:rPr>
              <a:t>Behavior Pattern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55AFC-3130-4895-98CB-6639542D29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44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1200" dirty="0">
                <a:latin typeface="Arial" panose="020B0604020202020204" pitchFamily="34" charset="0"/>
                <a:cs typeface="Arial" panose="020B0604020202020204" pitchFamily="34" charset="0"/>
              </a:rPr>
              <a:t>Là mẫu thiết kế thuộc </a:t>
            </a:r>
            <a:r>
              <a:rPr lang="en" sz="1200" b="1" dirty="0">
                <a:latin typeface="Arial" panose="020B0604020202020204" pitchFamily="34" charset="0"/>
                <a:cs typeface="Arial" panose="020B0604020202020204" pitchFamily="34" charset="0"/>
              </a:rPr>
              <a:t>Behavior Pattern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55AFC-3130-4895-98CB-6639542D29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20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1200" dirty="0">
                <a:latin typeface="Arial" panose="020B0604020202020204" pitchFamily="34" charset="0"/>
                <a:cs typeface="Arial" panose="020B0604020202020204" pitchFamily="34" charset="0"/>
              </a:rPr>
              <a:t>Là mẫu thiết kế thuộc </a:t>
            </a:r>
            <a:r>
              <a:rPr lang="en" sz="1200" b="1" dirty="0">
                <a:latin typeface="Arial" panose="020B0604020202020204" pitchFamily="34" charset="0"/>
                <a:cs typeface="Arial" panose="020B0604020202020204" pitchFamily="34" charset="0"/>
              </a:rPr>
              <a:t>Behavior Pattern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55AFC-3130-4895-98CB-6639542D29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82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1200" dirty="0">
                <a:latin typeface="Arial" panose="020B0604020202020204" pitchFamily="34" charset="0"/>
                <a:cs typeface="Arial" panose="020B0604020202020204" pitchFamily="34" charset="0"/>
              </a:rPr>
              <a:t>Là mẫu thiết kế thuộc </a:t>
            </a:r>
            <a:r>
              <a:rPr lang="en" sz="1200" b="1" dirty="0">
                <a:latin typeface="Arial" panose="020B0604020202020204" pitchFamily="34" charset="0"/>
                <a:cs typeface="Arial" panose="020B0604020202020204" pitchFamily="34" charset="0"/>
              </a:rPr>
              <a:t>Behavior Pattern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55AFC-3130-4895-98CB-6639542D29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7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AF7B-E45C-44F6-99C8-BF8212EAC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BCFC5-60F5-45F9-A352-48998E9E9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B80E2-2C28-496C-9D1C-3D371CE9E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0A2E9-F100-4693-AF74-6F0C7A2EEC0C}" type="datetime1">
              <a:rPr lang="en-US" smtClean="0"/>
              <a:t>6/18/2020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009EB-084D-4417-BE77-DA71D4DB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4215B-F20F-426B-8DF2-A0971BF5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853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84CE-E628-44E7-BB58-E4329015D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A20C6-D63C-42A4-A3A9-E2A3EC9A9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5A5DD-68D6-43F6-9731-E63F8214F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6C7FA-FC58-4CB4-89D7-BD0B10CF782E}" type="datetime1">
              <a:rPr lang="en-US" smtClean="0"/>
              <a:t>6/18/2020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B870A-5F25-4998-9B41-54D750446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6B5C8-4836-41DF-8DD1-CE7E5C529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19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02F6-085E-4924-9EC8-DD9E05E5F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A1249-AF43-491C-AB42-20DD72E73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7DAF8-C258-4A35-A890-C30A14529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D92E5-7837-4717-8BF2-C19787F28F11}" type="datetime1">
              <a:rPr lang="en-US" smtClean="0"/>
              <a:t>6/18/2020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84F1A-B5C8-4332-83E4-B486398A9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A0282-7C70-4306-B94E-07008CEA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91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31F2-5856-4C32-B47B-BFB3DE4A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BBB8B-198B-4041-9BCD-17C472096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94D0B-7F30-47B8-88B0-413FF9D96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A1275-DE74-4ABE-9281-3F2B3A1F2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B2FF-5E88-4DDB-BC29-B9C96AA749C7}" type="datetime1">
              <a:rPr lang="en-US" smtClean="0"/>
              <a:t>6/18/2020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09EE5-04BB-41E0-ADCA-0971C651B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8BFCB-9B5C-4500-8F1C-4B56E03A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43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2B32-92EE-4621-8812-5B92FB368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2F1D0-98AD-4F95-84BE-E5201A597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E5C70-E63C-414E-BD55-C2C8020A6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EA1F8-C12B-4380-B5D4-5CFC5793CE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5E38B-7751-4910-A10F-73E32A966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BB82C3-E6F3-462C-997F-9ECE8044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09AB-7EBC-4A77-B5AC-2223B69DEB58}" type="datetime1">
              <a:rPr lang="en-US" smtClean="0"/>
              <a:t>6/18/2020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989465-2C9B-4E4E-831B-8B9CA06BD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5DE65C-EEF9-425B-A5B3-12935B61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57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278D-472D-4D96-A11E-4B1600B6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3D5A6-C939-41AA-9B30-1DCC11DF7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04AC9-6E94-4C50-BCF6-35B70087C7AD}" type="datetime1">
              <a:rPr lang="en-US" smtClean="0"/>
              <a:t>6/18/2020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BF535-AC33-4755-ACA3-17717D99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C8D6D-010A-44F3-A81A-D267A1C8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82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021DF0-0BDB-4DFB-A79E-D79C5DFEC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C2C7-4D2E-463E-A9D3-2BE4605823DB}" type="datetime1">
              <a:rPr lang="en-US" smtClean="0"/>
              <a:t>6/18/2020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BC8464-81B7-4069-A241-AE2F89AB5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4C14B-5192-45A2-8E79-3D461102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4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6336-9933-4BB6-817D-0B0D3B9A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1716C-D40F-42D2-8270-B825048D9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EB531-98EC-4C38-AA80-3E8C762A9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B0ACD-F990-4600-AC54-92363BE01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F4E61-0B6D-4AB9-8C9A-18CBD9E6AEBA}" type="datetime1">
              <a:rPr lang="en-US" smtClean="0"/>
              <a:t>6/18/2020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D1733-707D-4612-A26B-0C0859F66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282FC-17C3-4163-870E-785BD4FA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91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DDC6-0B46-4D6F-B482-A9264B7E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9D650B-20CE-47B9-A481-101462DB9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F905E-95FC-474E-9246-6650E3949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23FD2-1A68-4F99-923A-7A5845317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25A9-73A2-4540-84D9-26E749D1C919}" type="datetime1">
              <a:rPr lang="en-US" smtClean="0"/>
              <a:t>6/18/2020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2AD0F-3089-4D51-9705-FF3EEB330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BA1F5-34FF-4181-B98A-64ECD851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5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E409E-EBE8-4CE6-A032-F98792D5E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C9F80-A3B4-4B55-B674-3220B4C6B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BE15B-1C17-4EAA-9EC3-B98152D2C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674BC-8F5B-44FE-AAF4-B7DB98A484BD}" type="datetime1">
              <a:rPr lang="en-US" smtClean="0"/>
              <a:t>6/18/2020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894B6-2050-4DF0-9168-AF4D57C8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1C9AE-F57B-47E7-ADFE-5A7AEB140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5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E41EC0-609F-4F93-A2C2-0387AF3F3A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AE84F-4DD6-4612-8B4D-151611BA7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7DA69-9F04-4948-8FA0-B150A2BAA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CF1A-ED4A-4869-8B43-0F0BCFFB23B2}" type="datetime1">
              <a:rPr lang="en-US" smtClean="0"/>
              <a:t>6/18/2020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41798-21F1-4A0F-9FED-F3D779E69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74451-CC5F-4604-89EA-1A9D39B6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6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0B8F48-B6C0-492B-A040-16F9E37F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AF77C-2362-4246-80EF-3208EF1B3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FC6D3-4322-4EC7-A646-71FB30A5E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D428A-0E9E-43A3-89F9-A37109083BE3}" type="datetime1">
              <a:rPr lang="en-US" smtClean="0"/>
              <a:t>6/18/2020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15073-8697-4E26-AF8A-4A1265DAD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1BA32-70D0-4598-A20E-59E4A4420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7D45-B738-4F8A-9639-98C08AF39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1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42796" y="60363"/>
            <a:ext cx="1119611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 CHI MINH CITY UNILVERSITY OF TECHNOLOGY AND EDUCATION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097006" y="606453"/>
            <a:ext cx="577286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OBJECT-ORIENTED SOFTWARE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0245" y="5208077"/>
            <a:ext cx="383810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000" dirty="0">
                <a:ln w="0"/>
              </a:rPr>
              <a:t>INSTRUCTOR:  </a:t>
            </a:r>
            <a:r>
              <a:rPr lang="en-US" sz="2000" dirty="0" err="1">
                <a:ln w="0"/>
              </a:rPr>
              <a:t>Nguyễn</a:t>
            </a:r>
            <a:r>
              <a:rPr lang="en-US" sz="2000" dirty="0">
                <a:ln w="0"/>
              </a:rPr>
              <a:t> </a:t>
            </a:r>
            <a:r>
              <a:rPr lang="en-US" sz="2000" dirty="0" err="1">
                <a:ln w="0"/>
              </a:rPr>
              <a:t>Trần</a:t>
            </a:r>
            <a:r>
              <a:rPr lang="en-US" sz="2000" dirty="0">
                <a:ln w="0"/>
              </a:rPr>
              <a:t> </a:t>
            </a:r>
            <a:r>
              <a:rPr lang="en-US" sz="2000" dirty="0" err="1">
                <a:ln w="0"/>
              </a:rPr>
              <a:t>Thi</a:t>
            </a:r>
            <a:r>
              <a:rPr lang="en-US" sz="2000" dirty="0">
                <a:ln w="0"/>
              </a:rPr>
              <a:t> </a:t>
            </a:r>
            <a:r>
              <a:rPr lang="en-US" sz="2000" dirty="0" err="1">
                <a:ln w="0"/>
              </a:rPr>
              <a:t>Văn</a:t>
            </a:r>
            <a:endParaRPr lang="en-US" sz="2000" dirty="0">
              <a:ln w="0"/>
            </a:endParaRPr>
          </a:p>
          <a:p>
            <a:r>
              <a:rPr lang="en-US" sz="2000" dirty="0">
                <a:ln w="0"/>
              </a:rPr>
              <a:t>MEMBERS:</a:t>
            </a:r>
          </a:p>
          <a:p>
            <a:r>
              <a:rPr lang="en-US" sz="2000" dirty="0">
                <a:ln w="0"/>
              </a:rPr>
              <a:t>17110008 Hồ </a:t>
            </a:r>
            <a:r>
              <a:rPr lang="en-US" sz="2000" dirty="0" err="1">
                <a:ln w="0"/>
              </a:rPr>
              <a:t>Ngọc</a:t>
            </a:r>
            <a:r>
              <a:rPr lang="en-US" sz="2000" dirty="0">
                <a:ln w="0"/>
              </a:rPr>
              <a:t> </a:t>
            </a:r>
            <a:r>
              <a:rPr lang="en-US" sz="2000" dirty="0" err="1">
                <a:ln w="0"/>
              </a:rPr>
              <a:t>Đình</a:t>
            </a:r>
            <a:r>
              <a:rPr lang="en-US" sz="2000" dirty="0">
                <a:ln w="0"/>
              </a:rPr>
              <a:t> Châu</a:t>
            </a:r>
          </a:p>
          <a:p>
            <a:r>
              <a:rPr lang="en-US" sz="2000" dirty="0">
                <a:ln w="0"/>
              </a:rPr>
              <a:t>17110195 </a:t>
            </a:r>
            <a:r>
              <a:rPr lang="en-US" sz="2000" dirty="0" err="1">
                <a:ln w="0"/>
              </a:rPr>
              <a:t>Nguyễn</a:t>
            </a:r>
            <a:r>
              <a:rPr lang="en-US" sz="2000" dirty="0">
                <a:ln w="0"/>
              </a:rPr>
              <a:t> </a:t>
            </a:r>
            <a:r>
              <a:rPr lang="en-US" sz="2000" dirty="0" err="1">
                <a:ln w="0"/>
              </a:rPr>
              <a:t>Thị</a:t>
            </a:r>
            <a:r>
              <a:rPr lang="en-US" sz="2000" dirty="0">
                <a:ln w="0"/>
              </a:rPr>
              <a:t> </a:t>
            </a:r>
            <a:r>
              <a:rPr lang="en-US" sz="2000" dirty="0" err="1">
                <a:ln w="0"/>
              </a:rPr>
              <a:t>Bích</a:t>
            </a:r>
            <a:r>
              <a:rPr lang="en-US" sz="2000" dirty="0">
                <a:ln w="0"/>
              </a:rPr>
              <a:t> Nhàn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D98ECF-B44B-4F31-8984-399FA804CAA8}"/>
              </a:ext>
            </a:extLst>
          </p:cNvPr>
          <p:cNvSpPr/>
          <p:nvPr/>
        </p:nvSpPr>
        <p:spPr>
          <a:xfrm>
            <a:off x="2665836" y="2061880"/>
            <a:ext cx="6635198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VISITOR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579872-D209-4063-88DE-DEB031387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99" y="4094269"/>
            <a:ext cx="2703368" cy="27033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6E46369-94FB-406F-B119-9217AD8F1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964" y="5045549"/>
            <a:ext cx="1855962" cy="175208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2F340E-0836-4963-9C33-1C7D8BD4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8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eft Brace 18">
            <a:extLst>
              <a:ext uri="{FF2B5EF4-FFF2-40B4-BE49-F238E27FC236}">
                <a16:creationId xmlns:a16="http://schemas.microsoft.com/office/drawing/2014/main" id="{3D4CE345-490F-4CBE-84D0-3610D77C5DC1}"/>
              </a:ext>
            </a:extLst>
          </p:cNvPr>
          <p:cNvSpPr/>
          <p:nvPr/>
        </p:nvSpPr>
        <p:spPr>
          <a:xfrm>
            <a:off x="2408530" y="672802"/>
            <a:ext cx="895547" cy="5034662"/>
          </a:xfrm>
          <a:prstGeom prst="leftBrac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7E13A74-030C-4C5E-94C6-64DFD5C99F75}"/>
              </a:ext>
            </a:extLst>
          </p:cNvPr>
          <p:cNvGrpSpPr/>
          <p:nvPr/>
        </p:nvGrpSpPr>
        <p:grpSpPr>
          <a:xfrm>
            <a:off x="3273439" y="5339812"/>
            <a:ext cx="8226865" cy="606870"/>
            <a:chOff x="3365362" y="5870772"/>
            <a:chExt cx="8226865" cy="60687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1B64DB5-7563-434F-8FA1-36602EB14672}"/>
                </a:ext>
              </a:extLst>
            </p:cNvPr>
            <p:cNvSpPr/>
            <p:nvPr/>
          </p:nvSpPr>
          <p:spPr>
            <a:xfrm>
              <a:off x="3365362" y="5931894"/>
              <a:ext cx="8226865" cy="48462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800" b="1" dirty="0">
                  <a:solidFill>
                    <a:srgbClr val="FF0000"/>
                  </a:solidFill>
                  <a:latin typeface="Fredoka One" panose="02000000000000000000" pitchFamily="2" charset="0"/>
                </a:rPr>
                <a:t>DEMO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BB8B0656-4D9C-49F9-B6EB-279A23B55CB0}"/>
                </a:ext>
              </a:extLst>
            </p:cNvPr>
            <p:cNvSpPr/>
            <p:nvPr/>
          </p:nvSpPr>
          <p:spPr>
            <a:xfrm rot="5400000">
              <a:off x="3415851" y="5870772"/>
              <a:ext cx="505892" cy="60687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E35317BC-4E2D-4BE1-B0E0-6DEEE056FADA}"/>
                </a:ext>
              </a:extLst>
            </p:cNvPr>
            <p:cNvSpPr/>
            <p:nvPr/>
          </p:nvSpPr>
          <p:spPr>
            <a:xfrm rot="16200000">
              <a:off x="10969244" y="5854658"/>
              <a:ext cx="606870" cy="63909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19858A5-463E-4B70-8C0E-AC3E8D82042C}"/>
              </a:ext>
            </a:extLst>
          </p:cNvPr>
          <p:cNvGrpSpPr/>
          <p:nvPr/>
        </p:nvGrpSpPr>
        <p:grpSpPr>
          <a:xfrm>
            <a:off x="3364446" y="390991"/>
            <a:ext cx="8227787" cy="606870"/>
            <a:chOff x="3364446" y="390991"/>
            <a:chExt cx="8227787" cy="60687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BD1C6D7-2938-48D2-AEA8-1E33E0A907A7}"/>
                </a:ext>
              </a:extLst>
            </p:cNvPr>
            <p:cNvSpPr/>
            <p:nvPr/>
          </p:nvSpPr>
          <p:spPr>
            <a:xfrm>
              <a:off x="3365369" y="441479"/>
              <a:ext cx="8226864" cy="48462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800" b="1" dirty="0">
                  <a:solidFill>
                    <a:srgbClr val="FF0000"/>
                  </a:solidFill>
                  <a:latin typeface="Fredoka One" panose="02000000000000000000" pitchFamily="2" charset="0"/>
                </a:rPr>
                <a:t>DEFINITION AND GOAL</a:t>
              </a:r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8F938A0D-8818-4055-9EB5-95228C8DE928}"/>
                </a:ext>
              </a:extLst>
            </p:cNvPr>
            <p:cNvSpPr/>
            <p:nvPr/>
          </p:nvSpPr>
          <p:spPr>
            <a:xfrm rot="16200000">
              <a:off x="10969244" y="374877"/>
              <a:ext cx="606870" cy="63909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B254245E-AC08-46FC-B2C7-362A2F33E0B2}"/>
                </a:ext>
              </a:extLst>
            </p:cNvPr>
            <p:cNvSpPr/>
            <p:nvPr/>
          </p:nvSpPr>
          <p:spPr>
            <a:xfrm rot="5400000">
              <a:off x="3414935" y="369367"/>
              <a:ext cx="505892" cy="60687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DE5F261-2266-434D-8358-8C09C43C7CAC}"/>
              </a:ext>
            </a:extLst>
          </p:cNvPr>
          <p:cNvGrpSpPr/>
          <p:nvPr/>
        </p:nvGrpSpPr>
        <p:grpSpPr>
          <a:xfrm>
            <a:off x="3333804" y="1436362"/>
            <a:ext cx="8227786" cy="606870"/>
            <a:chOff x="3364446" y="1298420"/>
            <a:chExt cx="8227786" cy="60687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E8BBFF-7D68-4E3B-9E50-C864AA243F06}"/>
                </a:ext>
              </a:extLst>
            </p:cNvPr>
            <p:cNvSpPr/>
            <p:nvPr/>
          </p:nvSpPr>
          <p:spPr>
            <a:xfrm>
              <a:off x="3365368" y="1359542"/>
              <a:ext cx="8226864" cy="48462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800" b="1" dirty="0">
                  <a:solidFill>
                    <a:srgbClr val="FF0000"/>
                  </a:solidFill>
                  <a:latin typeface="Fredoka One" panose="02000000000000000000" pitchFamily="2" charset="0"/>
                </a:rPr>
                <a:t>STRUCTURE</a:t>
              </a:r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E1D5002C-50EE-4EA9-9FF5-5D5A4BA7F2B1}"/>
                </a:ext>
              </a:extLst>
            </p:cNvPr>
            <p:cNvSpPr/>
            <p:nvPr/>
          </p:nvSpPr>
          <p:spPr>
            <a:xfrm rot="16200000">
              <a:off x="10969244" y="1282306"/>
              <a:ext cx="606870" cy="63909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BF66BDC9-2E3F-4A94-A53B-C730294BAFA1}"/>
                </a:ext>
              </a:extLst>
            </p:cNvPr>
            <p:cNvSpPr/>
            <p:nvPr/>
          </p:nvSpPr>
          <p:spPr>
            <a:xfrm rot="5400000">
              <a:off x="3414935" y="1305880"/>
              <a:ext cx="505892" cy="60687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EB8CEFC-823C-435B-B2F0-427547D60E55}"/>
              </a:ext>
            </a:extLst>
          </p:cNvPr>
          <p:cNvGrpSpPr/>
          <p:nvPr/>
        </p:nvGrpSpPr>
        <p:grpSpPr>
          <a:xfrm>
            <a:off x="3333801" y="2435575"/>
            <a:ext cx="8227785" cy="606870"/>
            <a:chOff x="3364446" y="2205848"/>
            <a:chExt cx="8227785" cy="60687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996E89-6C01-4427-B888-BCA3E9F82CAC}"/>
                </a:ext>
              </a:extLst>
            </p:cNvPr>
            <p:cNvSpPr/>
            <p:nvPr/>
          </p:nvSpPr>
          <p:spPr>
            <a:xfrm>
              <a:off x="3365366" y="2257813"/>
              <a:ext cx="8226865" cy="48462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800" b="1" dirty="0">
                  <a:solidFill>
                    <a:srgbClr val="FF0000"/>
                  </a:solidFill>
                  <a:latin typeface="Fredoka One" panose="02000000000000000000" pitchFamily="2" charset="0"/>
                </a:rPr>
                <a:t>FIELD OF APPLICATION </a:t>
              </a:r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8F628F9D-E64D-4D90-9A5E-2BF53A9EB5E5}"/>
                </a:ext>
              </a:extLst>
            </p:cNvPr>
            <p:cNvSpPr/>
            <p:nvPr/>
          </p:nvSpPr>
          <p:spPr>
            <a:xfrm rot="16200000">
              <a:off x="10969244" y="2189734"/>
              <a:ext cx="606870" cy="63909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B8EB89EC-1DF2-4770-84D3-60905E8DD6E1}"/>
                </a:ext>
              </a:extLst>
            </p:cNvPr>
            <p:cNvSpPr/>
            <p:nvPr/>
          </p:nvSpPr>
          <p:spPr>
            <a:xfrm rot="5400000">
              <a:off x="3414935" y="2222294"/>
              <a:ext cx="505892" cy="60687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11325E3-67EF-4B9D-B15F-312C4C037C47}"/>
              </a:ext>
            </a:extLst>
          </p:cNvPr>
          <p:cNvGrpSpPr/>
          <p:nvPr/>
        </p:nvGrpSpPr>
        <p:grpSpPr>
          <a:xfrm>
            <a:off x="3333798" y="3396502"/>
            <a:ext cx="8227785" cy="606870"/>
            <a:chOff x="3364446" y="3113277"/>
            <a:chExt cx="8227785" cy="60687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03A5BD-BB08-49D5-8DA6-4728B6793DDA}"/>
                </a:ext>
              </a:extLst>
            </p:cNvPr>
            <p:cNvSpPr/>
            <p:nvPr/>
          </p:nvSpPr>
          <p:spPr>
            <a:xfrm>
              <a:off x="3365366" y="3197497"/>
              <a:ext cx="8226865" cy="484269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800" b="1" dirty="0">
                  <a:solidFill>
                    <a:srgbClr val="FF0000"/>
                  </a:solidFill>
                  <a:latin typeface="Fredoka One" panose="02000000000000000000" pitchFamily="2" charset="0"/>
                </a:rPr>
                <a:t> ADVANTAGES AND DISADVANTAGES 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F4F1F464-ED3B-4AFD-9FB3-9AFD76638C15}"/>
                </a:ext>
              </a:extLst>
            </p:cNvPr>
            <p:cNvSpPr/>
            <p:nvPr/>
          </p:nvSpPr>
          <p:spPr>
            <a:xfrm rot="16200000">
              <a:off x="10969244" y="3097163"/>
              <a:ext cx="606870" cy="63909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669D0028-D728-450F-83F6-2EFFBE47CC35}"/>
                </a:ext>
              </a:extLst>
            </p:cNvPr>
            <p:cNvSpPr/>
            <p:nvPr/>
          </p:nvSpPr>
          <p:spPr>
            <a:xfrm rot="5400000">
              <a:off x="3414935" y="3133081"/>
              <a:ext cx="505892" cy="60687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C142EBA-A1E9-4C9C-8657-9DAD7629B3C7}"/>
              </a:ext>
            </a:extLst>
          </p:cNvPr>
          <p:cNvGrpSpPr/>
          <p:nvPr/>
        </p:nvGrpSpPr>
        <p:grpSpPr>
          <a:xfrm>
            <a:off x="3273439" y="4400652"/>
            <a:ext cx="8288141" cy="606870"/>
            <a:chOff x="3304088" y="4045282"/>
            <a:chExt cx="8288141" cy="60687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A15158-7EF1-46E6-A07F-CA86C6884EF9}"/>
                </a:ext>
              </a:extLst>
            </p:cNvPr>
            <p:cNvSpPr/>
            <p:nvPr/>
          </p:nvSpPr>
          <p:spPr>
            <a:xfrm>
              <a:off x="3365364" y="4087725"/>
              <a:ext cx="8226865" cy="48462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800" b="1" dirty="0">
                  <a:solidFill>
                    <a:srgbClr val="FF0000"/>
                  </a:solidFill>
                  <a:latin typeface="Fredoka One" panose="02000000000000000000" pitchFamily="2" charset="0"/>
                </a:rPr>
                <a:t>RELATED TEMPLATES</a:t>
              </a:r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4AFAAC29-9549-4D59-BE27-9C770294152E}"/>
                </a:ext>
              </a:extLst>
            </p:cNvPr>
            <p:cNvSpPr/>
            <p:nvPr/>
          </p:nvSpPr>
          <p:spPr>
            <a:xfrm rot="16200000">
              <a:off x="10969244" y="4029168"/>
              <a:ext cx="606870" cy="63909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D479BC92-24AC-4BC6-B7DB-96ACB3F3C02A}"/>
                </a:ext>
              </a:extLst>
            </p:cNvPr>
            <p:cNvSpPr/>
            <p:nvPr/>
          </p:nvSpPr>
          <p:spPr>
            <a:xfrm rot="5400000">
              <a:off x="3354577" y="4043868"/>
              <a:ext cx="505892" cy="60687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E800AF13-1290-45D0-BE72-B87528B7C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2" y="1356368"/>
            <a:ext cx="2133600" cy="399133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756DAE-E70B-4145-BE29-582A718D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8083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rrow: Right 15">
            <a:extLst>
              <a:ext uri="{FF2B5EF4-FFF2-40B4-BE49-F238E27FC236}">
                <a16:creationId xmlns:a16="http://schemas.microsoft.com/office/drawing/2014/main" id="{49CEB06D-F8D2-4F52-AE80-4EBE84BD82E4}"/>
              </a:ext>
            </a:extLst>
          </p:cNvPr>
          <p:cNvSpPr/>
          <p:nvPr/>
        </p:nvSpPr>
        <p:spPr>
          <a:xfrm rot="12362753">
            <a:off x="6424480" y="2164698"/>
            <a:ext cx="2107059" cy="17990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B2EB8A1-50F3-4800-B651-E560421FCF41}"/>
              </a:ext>
            </a:extLst>
          </p:cNvPr>
          <p:cNvSpPr/>
          <p:nvPr/>
        </p:nvSpPr>
        <p:spPr>
          <a:xfrm rot="16200000">
            <a:off x="5347756" y="1869279"/>
            <a:ext cx="501220" cy="15077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527D089-BF47-469E-A28C-64B27FF3DDB8}"/>
              </a:ext>
            </a:extLst>
          </p:cNvPr>
          <p:cNvSpPr/>
          <p:nvPr/>
        </p:nvSpPr>
        <p:spPr>
          <a:xfrm rot="20205390">
            <a:off x="3131862" y="1976081"/>
            <a:ext cx="1649227" cy="193515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F4104-37EF-48B7-BE99-1667F5ADB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673" y="7000067"/>
            <a:ext cx="2409524" cy="11047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BAE32D-7123-49D9-828C-BDE12D7FE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673" y="8400629"/>
            <a:ext cx="2380952" cy="10857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939955-04C2-4586-B5D4-B73810D2E7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51" y="7000067"/>
            <a:ext cx="2342857" cy="109523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EAE80E-0A8C-41D6-8188-A2ADE49602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881" y="7062137"/>
            <a:ext cx="2361905" cy="109523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FC1B129-B57C-46FE-90C4-857D934E36E2}"/>
              </a:ext>
            </a:extLst>
          </p:cNvPr>
          <p:cNvSpPr/>
          <p:nvPr/>
        </p:nvSpPr>
        <p:spPr>
          <a:xfrm>
            <a:off x="7310627" y="530592"/>
            <a:ext cx="18372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ln w="0"/>
              </a:rPr>
              <a:t>+</a:t>
            </a:r>
            <a:r>
              <a:rPr lang="en-US" sz="2800" b="1" dirty="0" err="1">
                <a:ln w="0"/>
              </a:rPr>
              <a:t>New_op</a:t>
            </a:r>
            <a:r>
              <a:rPr lang="en-US" sz="2800" b="1" dirty="0">
                <a:ln w="0"/>
              </a:rPr>
              <a:t>()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EAED10-49D7-4563-B635-5061FAAD56E8}"/>
              </a:ext>
            </a:extLst>
          </p:cNvPr>
          <p:cNvSpPr/>
          <p:nvPr/>
        </p:nvSpPr>
        <p:spPr>
          <a:xfrm>
            <a:off x="910118" y="3520738"/>
            <a:ext cx="18372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ln w="0"/>
              </a:rPr>
              <a:t>+</a:t>
            </a:r>
            <a:r>
              <a:rPr lang="en-US" sz="2800" b="1" dirty="0" err="1">
                <a:ln w="0"/>
              </a:rPr>
              <a:t>New_op</a:t>
            </a:r>
            <a:r>
              <a:rPr lang="en-US" sz="2800" b="1" dirty="0">
                <a:ln w="0"/>
              </a:rPr>
              <a:t>()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1BC4D0-F522-4E5A-B3C2-57512320B068}"/>
              </a:ext>
            </a:extLst>
          </p:cNvPr>
          <p:cNvSpPr/>
          <p:nvPr/>
        </p:nvSpPr>
        <p:spPr>
          <a:xfrm>
            <a:off x="4755135" y="3541257"/>
            <a:ext cx="18372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ln w="0"/>
              </a:rPr>
              <a:t>+</a:t>
            </a:r>
            <a:r>
              <a:rPr lang="en-US" sz="2800" b="1" dirty="0" err="1">
                <a:ln w="0"/>
              </a:rPr>
              <a:t>New_op</a:t>
            </a:r>
            <a:r>
              <a:rPr lang="en-US" sz="2800" b="1" dirty="0">
                <a:ln w="0"/>
              </a:rPr>
              <a:t>()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27B091-312D-471D-ADAE-601BAB656AA4}"/>
              </a:ext>
            </a:extLst>
          </p:cNvPr>
          <p:cNvSpPr/>
          <p:nvPr/>
        </p:nvSpPr>
        <p:spPr>
          <a:xfrm>
            <a:off x="8579093" y="3432623"/>
            <a:ext cx="18372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ln w="0"/>
              </a:rPr>
              <a:t>+</a:t>
            </a:r>
            <a:r>
              <a:rPr lang="en-US" sz="2800" b="1" dirty="0" err="1">
                <a:ln w="0"/>
              </a:rPr>
              <a:t>New_op</a:t>
            </a:r>
            <a:r>
              <a:rPr lang="en-US" sz="2800" b="1" dirty="0">
                <a:ln w="0"/>
              </a:rPr>
              <a:t>()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5DB8F6-605E-47D7-A7A7-43F7B5178B71}"/>
              </a:ext>
            </a:extLst>
          </p:cNvPr>
          <p:cNvSpPr/>
          <p:nvPr/>
        </p:nvSpPr>
        <p:spPr>
          <a:xfrm>
            <a:off x="9351097" y="384999"/>
            <a:ext cx="213045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</a:rPr>
              <a:t>+op2()</a:t>
            </a:r>
          </a:p>
          <a:p>
            <a:pPr algn="ctr"/>
            <a:r>
              <a:rPr lang="en-US" sz="2400" dirty="0">
                <a:ln w="0"/>
              </a:rPr>
              <a:t>+op3()</a:t>
            </a:r>
          </a:p>
          <a:p>
            <a:pPr algn="ctr"/>
            <a:r>
              <a:rPr lang="en-US" sz="2400" dirty="0">
                <a:ln w="0"/>
              </a:rPr>
              <a:t>+op4()</a:t>
            </a:r>
          </a:p>
          <a:p>
            <a:pPr algn="ctr"/>
            <a:r>
              <a:rPr lang="en-US" sz="2400" dirty="0">
                <a:ln w="0"/>
              </a:rPr>
              <a:t>+op5()</a:t>
            </a:r>
          </a:p>
          <a:p>
            <a:pPr algn="ctr"/>
            <a:r>
              <a:rPr lang="en-US" sz="2400" dirty="0">
                <a:ln w="0"/>
              </a:rPr>
              <a:t>+op6()</a:t>
            </a:r>
          </a:p>
          <a:p>
            <a:pPr algn="ctr"/>
            <a:endParaRPr lang="en-US" sz="2400" dirty="0">
              <a:ln w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41CF3F-53D5-4B06-BC2D-081008C04C3F}"/>
              </a:ext>
            </a:extLst>
          </p:cNvPr>
          <p:cNvSpPr/>
          <p:nvPr/>
        </p:nvSpPr>
        <p:spPr>
          <a:xfrm>
            <a:off x="495650" y="4332834"/>
            <a:ext cx="213045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</a:rPr>
              <a:t>+op2()</a:t>
            </a:r>
          </a:p>
          <a:p>
            <a:pPr algn="ctr"/>
            <a:r>
              <a:rPr lang="en-US" sz="2400" dirty="0">
                <a:ln w="0"/>
              </a:rPr>
              <a:t>+op3()</a:t>
            </a:r>
          </a:p>
          <a:p>
            <a:pPr algn="ctr"/>
            <a:r>
              <a:rPr lang="en-US" sz="2400" dirty="0">
                <a:ln w="0"/>
              </a:rPr>
              <a:t>+op4()</a:t>
            </a:r>
          </a:p>
          <a:p>
            <a:pPr algn="ctr"/>
            <a:r>
              <a:rPr lang="en-US" sz="2400" dirty="0">
                <a:ln w="0"/>
              </a:rPr>
              <a:t>+op5()</a:t>
            </a:r>
          </a:p>
          <a:p>
            <a:pPr algn="ctr"/>
            <a:r>
              <a:rPr lang="en-US" sz="2400" dirty="0">
                <a:ln w="0"/>
              </a:rPr>
              <a:t>+op6()</a:t>
            </a:r>
          </a:p>
          <a:p>
            <a:pPr algn="ctr"/>
            <a:endParaRPr lang="en-US" sz="2400" dirty="0">
              <a:ln w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66E66E-2961-4F6A-9406-8189501C2C43}"/>
              </a:ext>
            </a:extLst>
          </p:cNvPr>
          <p:cNvSpPr/>
          <p:nvPr/>
        </p:nvSpPr>
        <p:spPr>
          <a:xfrm>
            <a:off x="4415673" y="4332834"/>
            <a:ext cx="213045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</a:rPr>
              <a:t>+op2()</a:t>
            </a:r>
          </a:p>
          <a:p>
            <a:pPr algn="ctr"/>
            <a:r>
              <a:rPr lang="en-US" sz="2400" dirty="0">
                <a:ln w="0"/>
              </a:rPr>
              <a:t>+op3()</a:t>
            </a:r>
          </a:p>
          <a:p>
            <a:pPr algn="ctr"/>
            <a:r>
              <a:rPr lang="en-US" sz="2400" dirty="0">
                <a:ln w="0"/>
              </a:rPr>
              <a:t>+op4()</a:t>
            </a:r>
          </a:p>
          <a:p>
            <a:pPr algn="ctr"/>
            <a:r>
              <a:rPr lang="en-US" sz="2400" dirty="0">
                <a:ln w="0"/>
              </a:rPr>
              <a:t>+op5()</a:t>
            </a:r>
          </a:p>
          <a:p>
            <a:pPr algn="ctr"/>
            <a:r>
              <a:rPr lang="en-US" sz="2400" dirty="0">
                <a:ln w="0"/>
              </a:rPr>
              <a:t>+op6()</a:t>
            </a:r>
          </a:p>
          <a:p>
            <a:pPr algn="ctr"/>
            <a:endParaRPr lang="en-US" sz="2400" dirty="0">
              <a:ln w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B143E8-AF4F-4417-980D-6EF248E041EA}"/>
              </a:ext>
            </a:extLst>
          </p:cNvPr>
          <p:cNvSpPr/>
          <p:nvPr/>
        </p:nvSpPr>
        <p:spPr>
          <a:xfrm>
            <a:off x="8507604" y="4332834"/>
            <a:ext cx="213045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</a:rPr>
              <a:t>+op2()</a:t>
            </a:r>
          </a:p>
          <a:p>
            <a:pPr algn="ctr"/>
            <a:r>
              <a:rPr lang="en-US" sz="2400" dirty="0">
                <a:ln w="0"/>
              </a:rPr>
              <a:t>+op3()</a:t>
            </a:r>
          </a:p>
          <a:p>
            <a:pPr algn="ctr"/>
            <a:r>
              <a:rPr lang="en-US" sz="2400" dirty="0">
                <a:ln w="0"/>
              </a:rPr>
              <a:t>+op4()</a:t>
            </a:r>
          </a:p>
          <a:p>
            <a:pPr algn="ctr"/>
            <a:r>
              <a:rPr lang="en-US" sz="2400" dirty="0">
                <a:ln w="0"/>
              </a:rPr>
              <a:t>+op5()</a:t>
            </a:r>
          </a:p>
          <a:p>
            <a:pPr algn="ctr"/>
            <a:r>
              <a:rPr lang="en-US" sz="2400" dirty="0">
                <a:ln w="0"/>
              </a:rPr>
              <a:t>+op6()</a:t>
            </a:r>
          </a:p>
          <a:p>
            <a:pPr algn="ctr"/>
            <a:endParaRPr lang="en-US" sz="2400" dirty="0">
              <a:ln w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1910450-D544-4A3F-816B-340FB09921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9" y="16473"/>
            <a:ext cx="12180181" cy="678381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C8B11E0E-E403-4E1C-9D52-3B93DD3915CD}"/>
              </a:ext>
            </a:extLst>
          </p:cNvPr>
          <p:cNvSpPr/>
          <p:nvPr/>
        </p:nvSpPr>
        <p:spPr>
          <a:xfrm>
            <a:off x="3058752" y="1637856"/>
            <a:ext cx="6635198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VISITOR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0929320-9706-42E7-BBFF-17C334E482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69" y="3514803"/>
            <a:ext cx="2900342" cy="3224954"/>
          </a:xfrm>
          <a:prstGeom prst="rect">
            <a:avLst/>
          </a:prstGeom>
        </p:spPr>
      </p:pic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0CD49BD3-B356-4027-A944-353E00BE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4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59259E-6 L -0.00261 -0.9504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" y="-47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2.96296E-6 L 0.04206 -0.6881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96" y="-3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9 0.00139 L -0.00053 -0.88912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4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22222E-6 L -0.00065 -0.69097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3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5" grpId="0" animBg="1"/>
      <p:bldP spid="15" grpId="1" animBg="1"/>
      <p:bldP spid="13" grpId="0" animBg="1"/>
      <p:bldP spid="13" grpId="1" animBg="1"/>
      <p:bldP spid="18" grpId="0"/>
      <p:bldP spid="18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6" grpId="0"/>
      <p:bldP spid="26" grpId="1"/>
      <p:bldP spid="27" grpId="0"/>
      <p:bldP spid="27" grpId="1"/>
      <p:bldP spid="28" grpId="0"/>
      <p:bldP spid="28" grpId="1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44DA41B-D647-48FD-978A-EBB12FE66DD8}"/>
              </a:ext>
            </a:extLst>
          </p:cNvPr>
          <p:cNvGrpSpPr/>
          <p:nvPr/>
        </p:nvGrpSpPr>
        <p:grpSpPr>
          <a:xfrm>
            <a:off x="-2444569" y="358497"/>
            <a:ext cx="9907253" cy="6657199"/>
            <a:chOff x="-2444569" y="358497"/>
            <a:chExt cx="9907253" cy="6657199"/>
          </a:xfrm>
        </p:grpSpPr>
        <p:pic>
          <p:nvPicPr>
            <p:cNvPr id="10" name="Imagen 2">
              <a:extLst>
                <a:ext uri="{FF2B5EF4-FFF2-40B4-BE49-F238E27FC236}">
                  <a16:creationId xmlns:a16="http://schemas.microsoft.com/office/drawing/2014/main" id="{0C901A4E-A6BB-44EB-B867-DFCF3DA87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44569" y="3338432"/>
              <a:ext cx="6537358" cy="3677264"/>
            </a:xfrm>
            <a:prstGeom prst="rect">
              <a:avLst/>
            </a:prstGeom>
          </p:spPr>
        </p:pic>
        <p:sp>
          <p:nvSpPr>
            <p:cNvPr id="11" name="Thought Bubble: Cloud 10">
              <a:extLst>
                <a:ext uri="{FF2B5EF4-FFF2-40B4-BE49-F238E27FC236}">
                  <a16:creationId xmlns:a16="http://schemas.microsoft.com/office/drawing/2014/main" id="{3C84558A-A7FA-4FF5-AFD6-AD64EDD60720}"/>
                </a:ext>
              </a:extLst>
            </p:cNvPr>
            <p:cNvSpPr/>
            <p:nvPr/>
          </p:nvSpPr>
          <p:spPr>
            <a:xfrm>
              <a:off x="151454" y="358497"/>
              <a:ext cx="7311230" cy="1676780"/>
            </a:xfrm>
            <a:prstGeom prst="cloudCallout">
              <a:avLst>
                <a:gd name="adj1" fmla="val -37722"/>
                <a:gd name="adj2" fmla="val 116417"/>
              </a:avLst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</a:rPr>
                <a:t>What is the Visitor Design Pattern </a:t>
              </a:r>
            </a:p>
          </p:txBody>
        </p:sp>
      </p:grpSp>
      <p:pic>
        <p:nvPicPr>
          <p:cNvPr id="1026" name="Picture 2" descr="Diễn đàn Tin học Công nghệ - Vforum.vn">
            <a:extLst>
              <a:ext uri="{FF2B5EF4-FFF2-40B4-BE49-F238E27FC236}">
                <a16:creationId xmlns:a16="http://schemas.microsoft.com/office/drawing/2014/main" id="{C88F3C77-AD54-421E-85C0-7C9EBA4F8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4" y="-24961"/>
            <a:ext cx="3872283" cy="620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3AAC38-73A5-49FF-87F7-4268E9B7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4115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B9F859-CD0B-4C89-9F9C-FF69A99763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558352-2B1C-49AF-B29D-9598517B775E}"/>
              </a:ext>
            </a:extLst>
          </p:cNvPr>
          <p:cNvSpPr/>
          <p:nvPr/>
        </p:nvSpPr>
        <p:spPr>
          <a:xfrm>
            <a:off x="0" y="-1017639"/>
            <a:ext cx="7747820" cy="203527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  <a:p>
            <a:pPr algn="ctr"/>
            <a:r>
              <a:rPr lang="en-US" sz="3600" b="1" dirty="0"/>
              <a:t>Visitor Design Pattern is :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6979E0-662B-4808-AD18-6DF2A5DACCED}"/>
              </a:ext>
            </a:extLst>
          </p:cNvPr>
          <p:cNvSpPr/>
          <p:nvPr/>
        </p:nvSpPr>
        <p:spPr>
          <a:xfrm>
            <a:off x="-1002889" y="6164827"/>
            <a:ext cx="12506632" cy="299883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E64985-2BED-4910-BF73-E856FC7729B9}"/>
              </a:ext>
            </a:extLst>
          </p:cNvPr>
          <p:cNvGrpSpPr/>
          <p:nvPr/>
        </p:nvGrpSpPr>
        <p:grpSpPr>
          <a:xfrm>
            <a:off x="583595" y="1792517"/>
            <a:ext cx="11608405" cy="493776"/>
            <a:chOff x="621793" y="1819656"/>
            <a:chExt cx="10058399" cy="493776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7C320AAF-E81A-41EA-814D-C69E54BA85B6}"/>
                </a:ext>
              </a:extLst>
            </p:cNvPr>
            <p:cNvSpPr/>
            <p:nvPr/>
          </p:nvSpPr>
          <p:spPr>
            <a:xfrm>
              <a:off x="621793" y="1897380"/>
              <a:ext cx="826723" cy="338328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F9B9611-0D06-4F46-A4FD-D79637DAC2D2}"/>
                </a:ext>
              </a:extLst>
            </p:cNvPr>
            <p:cNvSpPr/>
            <p:nvPr/>
          </p:nvSpPr>
          <p:spPr>
            <a:xfrm>
              <a:off x="1901952" y="1819656"/>
              <a:ext cx="8778240" cy="4937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</a:rPr>
                <a:t>Allows you to add  methods to classes of different types without much altering to those classes 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4156557-0A69-4560-B75C-17FCBFDB1A0A}"/>
              </a:ext>
            </a:extLst>
          </p:cNvPr>
          <p:cNvGrpSpPr/>
          <p:nvPr/>
        </p:nvGrpSpPr>
        <p:grpSpPr>
          <a:xfrm>
            <a:off x="595884" y="3175180"/>
            <a:ext cx="11075006" cy="493776"/>
            <a:chOff x="595884" y="3175180"/>
            <a:chExt cx="11075006" cy="493776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A9BD6C8B-BA04-4CD5-A684-FB7989A3071D}"/>
                </a:ext>
              </a:extLst>
            </p:cNvPr>
            <p:cNvSpPr/>
            <p:nvPr/>
          </p:nvSpPr>
          <p:spPr>
            <a:xfrm>
              <a:off x="595884" y="3252904"/>
              <a:ext cx="941832" cy="338328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7A04C2-416C-4038-9352-8E14E41B159E}"/>
                </a:ext>
              </a:extLst>
            </p:cNvPr>
            <p:cNvSpPr/>
            <p:nvPr/>
          </p:nvSpPr>
          <p:spPr>
            <a:xfrm>
              <a:off x="1901952" y="3175180"/>
              <a:ext cx="9768938" cy="4937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</a:rPr>
                <a:t>You can make completely different methods depending on the class used.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EE2F1C-1A69-4B7B-BC70-28CF084B371F}"/>
              </a:ext>
            </a:extLst>
          </p:cNvPr>
          <p:cNvGrpSpPr/>
          <p:nvPr/>
        </p:nvGrpSpPr>
        <p:grpSpPr>
          <a:xfrm>
            <a:off x="595884" y="4557843"/>
            <a:ext cx="10020202" cy="493776"/>
            <a:chOff x="621792" y="4562415"/>
            <a:chExt cx="10020202" cy="493776"/>
          </a:xfrm>
        </p:grpSpPr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6D0B8005-597B-4BC1-B339-C22B3B1CDE96}"/>
                </a:ext>
              </a:extLst>
            </p:cNvPr>
            <p:cNvSpPr/>
            <p:nvPr/>
          </p:nvSpPr>
          <p:spPr>
            <a:xfrm>
              <a:off x="621792" y="4640139"/>
              <a:ext cx="941832" cy="338328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24DC78-DBAF-4D35-8B50-1F00BA741A1F}"/>
                </a:ext>
              </a:extLst>
            </p:cNvPr>
            <p:cNvSpPr/>
            <p:nvPr/>
          </p:nvSpPr>
          <p:spPr>
            <a:xfrm>
              <a:off x="1863754" y="4562415"/>
              <a:ext cx="8778240" cy="4937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</a:rPr>
                <a:t>Allows you to defined external classes that can extend other classes without majorly editing them.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9AA2E-D2DD-49D2-B8E0-EAE5D6C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330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4ADB3-A3FE-4E50-BDEC-E1294FC4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9294C-E31F-41F9-BDB8-BADA2B12E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9B2DF8-7182-4A58-80A9-FACE499FDD28}"/>
              </a:ext>
            </a:extLst>
          </p:cNvPr>
          <p:cNvSpPr/>
          <p:nvPr/>
        </p:nvSpPr>
        <p:spPr>
          <a:xfrm>
            <a:off x="10674096" y="0"/>
            <a:ext cx="1517904" cy="10332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20968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B9F859-CD0B-4C89-9F9C-FF69A99763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558352-2B1C-49AF-B29D-9598517B775E}"/>
              </a:ext>
            </a:extLst>
          </p:cNvPr>
          <p:cNvSpPr/>
          <p:nvPr/>
        </p:nvSpPr>
        <p:spPr>
          <a:xfrm>
            <a:off x="0" y="-1017639"/>
            <a:ext cx="7747820" cy="203527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solidFill>
                <a:srgbClr val="FF0000"/>
              </a:solidFill>
              <a:latin typeface="Fredoka One" panose="02000000000000000000" pitchFamily="2" charset="0"/>
            </a:endParaRPr>
          </a:p>
          <a:p>
            <a:r>
              <a:rPr lang="es-ES" sz="3600" b="1" dirty="0">
                <a:solidFill>
                  <a:srgbClr val="FF0000"/>
                </a:solidFill>
                <a:latin typeface="Fredoka One" panose="02000000000000000000" pitchFamily="2" charset="0"/>
              </a:rPr>
              <a:t>FIELD OF APPLICATION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6979E0-662B-4808-AD18-6DF2A5DACCED}"/>
              </a:ext>
            </a:extLst>
          </p:cNvPr>
          <p:cNvSpPr/>
          <p:nvPr/>
        </p:nvSpPr>
        <p:spPr>
          <a:xfrm>
            <a:off x="-1002889" y="6164827"/>
            <a:ext cx="12506632" cy="299883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E64985-2BED-4910-BF73-E856FC7729B9}"/>
              </a:ext>
            </a:extLst>
          </p:cNvPr>
          <p:cNvGrpSpPr/>
          <p:nvPr/>
        </p:nvGrpSpPr>
        <p:grpSpPr>
          <a:xfrm>
            <a:off x="583595" y="2588638"/>
            <a:ext cx="11608405" cy="493776"/>
            <a:chOff x="621793" y="1819656"/>
            <a:chExt cx="10058399" cy="493776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7C320AAF-E81A-41EA-814D-C69E54BA85B6}"/>
                </a:ext>
              </a:extLst>
            </p:cNvPr>
            <p:cNvSpPr/>
            <p:nvPr/>
          </p:nvSpPr>
          <p:spPr>
            <a:xfrm>
              <a:off x="621793" y="1897380"/>
              <a:ext cx="826723" cy="338328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F9B9611-0D06-4F46-A4FD-D79637DAC2D2}"/>
                </a:ext>
              </a:extLst>
            </p:cNvPr>
            <p:cNvSpPr/>
            <p:nvPr/>
          </p:nvSpPr>
          <p:spPr>
            <a:xfrm>
              <a:off x="1901952" y="1819656"/>
              <a:ext cx="8778240" cy="4937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</a:rPr>
                <a:t>When there is a complex object structure with multiple classes and interfaces. Users need to perform some specific behaviors of their own objects, depending on their concrete class.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4156557-0A69-4560-B75C-17FCBFDB1A0A}"/>
              </a:ext>
            </a:extLst>
          </p:cNvPr>
          <p:cNvGrpSpPr/>
          <p:nvPr/>
        </p:nvGrpSpPr>
        <p:grpSpPr>
          <a:xfrm>
            <a:off x="583595" y="4415594"/>
            <a:ext cx="11075006" cy="493776"/>
            <a:chOff x="595884" y="3175180"/>
            <a:chExt cx="11075006" cy="493776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A9BD6C8B-BA04-4CD5-A684-FB7989A3071D}"/>
                </a:ext>
              </a:extLst>
            </p:cNvPr>
            <p:cNvSpPr/>
            <p:nvPr/>
          </p:nvSpPr>
          <p:spPr>
            <a:xfrm>
              <a:off x="595884" y="3252904"/>
              <a:ext cx="941832" cy="338328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7A04C2-416C-4038-9352-8E14E41B159E}"/>
                </a:ext>
              </a:extLst>
            </p:cNvPr>
            <p:cNvSpPr/>
            <p:nvPr/>
          </p:nvSpPr>
          <p:spPr>
            <a:xfrm>
              <a:off x="1901952" y="3175180"/>
              <a:ext cx="9768938" cy="4937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</a:rPr>
                <a:t>When the data structure of the object rarely changes but their behavior is changed frequently.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9AA2E-D2DD-49D2-B8E0-EAE5D6C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870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B9F859-CD0B-4C89-9F9C-FF69A99763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558352-2B1C-49AF-B29D-9598517B775E}"/>
              </a:ext>
            </a:extLst>
          </p:cNvPr>
          <p:cNvSpPr/>
          <p:nvPr/>
        </p:nvSpPr>
        <p:spPr>
          <a:xfrm>
            <a:off x="-1002889" y="-1209371"/>
            <a:ext cx="7747820" cy="203527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solidFill>
                <a:srgbClr val="FF0000"/>
              </a:solidFill>
              <a:latin typeface="Fredoka One" panose="02000000000000000000" pitchFamily="2" charset="0"/>
            </a:endParaRPr>
          </a:p>
          <a:p>
            <a:endParaRPr lang="es-ES" sz="3600" b="1" dirty="0">
              <a:solidFill>
                <a:srgbClr val="FF0000"/>
              </a:solidFill>
              <a:latin typeface="Fredoka One" panose="02000000000000000000" pitchFamily="2" charset="0"/>
            </a:endParaRPr>
          </a:p>
          <a:p>
            <a:r>
              <a:rPr lang="es-ES" sz="3600" b="1" dirty="0">
                <a:solidFill>
                  <a:srgbClr val="FF0000"/>
                </a:solidFill>
                <a:latin typeface="Fredoka One" panose="02000000000000000000" pitchFamily="2" charset="0"/>
              </a:rPr>
              <a:t>ADVANTAGES</a:t>
            </a:r>
            <a:endParaRPr lang="en-US" sz="36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6979E0-662B-4808-AD18-6DF2A5DACCED}"/>
              </a:ext>
            </a:extLst>
          </p:cNvPr>
          <p:cNvSpPr/>
          <p:nvPr/>
        </p:nvSpPr>
        <p:spPr>
          <a:xfrm>
            <a:off x="-1002889" y="6164827"/>
            <a:ext cx="12506632" cy="299883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E64985-2BED-4910-BF73-E856FC7729B9}"/>
              </a:ext>
            </a:extLst>
          </p:cNvPr>
          <p:cNvGrpSpPr/>
          <p:nvPr/>
        </p:nvGrpSpPr>
        <p:grpSpPr>
          <a:xfrm>
            <a:off x="595884" y="2182636"/>
            <a:ext cx="11431169" cy="493776"/>
            <a:chOff x="621793" y="1819656"/>
            <a:chExt cx="9904828" cy="493776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7C320AAF-E81A-41EA-814D-C69E54BA85B6}"/>
                </a:ext>
              </a:extLst>
            </p:cNvPr>
            <p:cNvSpPr/>
            <p:nvPr/>
          </p:nvSpPr>
          <p:spPr>
            <a:xfrm>
              <a:off x="621793" y="1897380"/>
              <a:ext cx="826723" cy="338328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F9B9611-0D06-4F46-A4FD-D79637DAC2D2}"/>
                </a:ext>
              </a:extLst>
            </p:cNvPr>
            <p:cNvSpPr/>
            <p:nvPr/>
          </p:nvSpPr>
          <p:spPr>
            <a:xfrm>
              <a:off x="1748381" y="1819656"/>
              <a:ext cx="8778240" cy="4937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</a:rPr>
                <a:t>Makes adding new operations easy.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EE2F1C-1A69-4B7B-BC70-28CF084B371F}"/>
              </a:ext>
            </a:extLst>
          </p:cNvPr>
          <p:cNvGrpSpPr/>
          <p:nvPr/>
        </p:nvGrpSpPr>
        <p:grpSpPr>
          <a:xfrm>
            <a:off x="595884" y="5158602"/>
            <a:ext cx="10020202" cy="493776"/>
            <a:chOff x="621792" y="4562415"/>
            <a:chExt cx="10020202" cy="493776"/>
          </a:xfrm>
        </p:grpSpPr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6D0B8005-597B-4BC1-B339-C22B3B1CDE96}"/>
                </a:ext>
              </a:extLst>
            </p:cNvPr>
            <p:cNvSpPr/>
            <p:nvPr/>
          </p:nvSpPr>
          <p:spPr>
            <a:xfrm>
              <a:off x="621792" y="4640139"/>
              <a:ext cx="941832" cy="338328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24DC78-DBAF-4D35-8B50-1F00BA741A1F}"/>
                </a:ext>
              </a:extLst>
            </p:cNvPr>
            <p:cNvSpPr/>
            <p:nvPr/>
          </p:nvSpPr>
          <p:spPr>
            <a:xfrm>
              <a:off x="1863754" y="4562415"/>
              <a:ext cx="8778240" cy="4937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</a:rPr>
                <a:t>Visitor brings related methods together.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9AA2E-D2DD-49D2-B8E0-EAE5D6C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8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6FAF04C-284A-48AC-B61B-0E2F23A23562}"/>
              </a:ext>
            </a:extLst>
          </p:cNvPr>
          <p:cNvGrpSpPr/>
          <p:nvPr/>
        </p:nvGrpSpPr>
        <p:grpSpPr>
          <a:xfrm>
            <a:off x="595884" y="3718817"/>
            <a:ext cx="10020202" cy="493776"/>
            <a:chOff x="621792" y="4562415"/>
            <a:chExt cx="10020202" cy="493776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5E8ED5D5-877B-4A93-868C-68F8D7BAE0E1}"/>
                </a:ext>
              </a:extLst>
            </p:cNvPr>
            <p:cNvSpPr/>
            <p:nvPr/>
          </p:nvSpPr>
          <p:spPr>
            <a:xfrm>
              <a:off x="621792" y="4640139"/>
              <a:ext cx="941832" cy="338328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36BA8-2621-4833-BAAC-89C2B096ACA7}"/>
                </a:ext>
              </a:extLst>
            </p:cNvPr>
            <p:cNvSpPr/>
            <p:nvPr/>
          </p:nvSpPr>
          <p:spPr>
            <a:xfrm>
              <a:off x="1863754" y="4562415"/>
              <a:ext cx="8778240" cy="4937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</a:rPr>
                <a:t>Keep Open / Close principle: the original object is not changed, easily adds new behavior to the object through the visitor.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19632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B9F859-CD0B-4C89-9F9C-FF69A9976316}"/>
              </a:ext>
            </a:extLst>
          </p:cNvPr>
          <p:cNvSpPr/>
          <p:nvPr/>
        </p:nvSpPr>
        <p:spPr>
          <a:xfrm>
            <a:off x="-72479" y="-6932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558352-2B1C-49AF-B29D-9598517B775E}"/>
              </a:ext>
            </a:extLst>
          </p:cNvPr>
          <p:cNvSpPr/>
          <p:nvPr/>
        </p:nvSpPr>
        <p:spPr>
          <a:xfrm>
            <a:off x="-1002889" y="-1209371"/>
            <a:ext cx="7747820" cy="203527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solidFill>
                <a:srgbClr val="FF0000"/>
              </a:solidFill>
              <a:latin typeface="Fredoka One" panose="02000000000000000000" pitchFamily="2" charset="0"/>
            </a:endParaRPr>
          </a:p>
          <a:p>
            <a:endParaRPr lang="es-ES" sz="3600" b="1" dirty="0">
              <a:solidFill>
                <a:srgbClr val="FF0000"/>
              </a:solidFill>
              <a:latin typeface="Fredoka One" panose="02000000000000000000" pitchFamily="2" charset="0"/>
            </a:endParaRPr>
          </a:p>
          <a:p>
            <a:r>
              <a:rPr lang="es-ES" sz="3600" b="1" dirty="0">
                <a:solidFill>
                  <a:srgbClr val="FF0000"/>
                </a:solidFill>
                <a:latin typeface="Fredoka One" panose="02000000000000000000" pitchFamily="2" charset="0"/>
              </a:rPr>
              <a:t>DISADVANTAGES</a:t>
            </a:r>
            <a:endParaRPr lang="en-US" sz="36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6979E0-662B-4808-AD18-6DF2A5DACCED}"/>
              </a:ext>
            </a:extLst>
          </p:cNvPr>
          <p:cNvSpPr/>
          <p:nvPr/>
        </p:nvSpPr>
        <p:spPr>
          <a:xfrm>
            <a:off x="-1002889" y="6164827"/>
            <a:ext cx="12506632" cy="299883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E64985-2BED-4910-BF73-E856FC7729B9}"/>
              </a:ext>
            </a:extLst>
          </p:cNvPr>
          <p:cNvGrpSpPr/>
          <p:nvPr/>
        </p:nvGrpSpPr>
        <p:grpSpPr>
          <a:xfrm>
            <a:off x="583595" y="1792517"/>
            <a:ext cx="11608405" cy="493776"/>
            <a:chOff x="621793" y="1819656"/>
            <a:chExt cx="10058399" cy="493776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7C320AAF-E81A-41EA-814D-C69E54BA85B6}"/>
                </a:ext>
              </a:extLst>
            </p:cNvPr>
            <p:cNvSpPr/>
            <p:nvPr/>
          </p:nvSpPr>
          <p:spPr>
            <a:xfrm>
              <a:off x="621793" y="1897380"/>
              <a:ext cx="826723" cy="338328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F9B9611-0D06-4F46-A4FD-D79637DAC2D2}"/>
                </a:ext>
              </a:extLst>
            </p:cNvPr>
            <p:cNvSpPr/>
            <p:nvPr/>
          </p:nvSpPr>
          <p:spPr>
            <a:xfrm>
              <a:off x="1901952" y="1819656"/>
              <a:ext cx="8778240" cy="4937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</a:rPr>
                <a:t>Adding new </a:t>
              </a:r>
              <a:r>
                <a:rPr lang="en-US" sz="2800" dirty="0" err="1">
                  <a:solidFill>
                    <a:schemeClr val="tx1"/>
                  </a:solidFill>
                </a:rPr>
                <a:t>ConcreteElement</a:t>
              </a:r>
              <a:r>
                <a:rPr lang="en-US" sz="2800" dirty="0">
                  <a:solidFill>
                    <a:schemeClr val="tx1"/>
                  </a:solidFill>
                </a:rPr>
                <a:t> class is very difficult.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4156557-0A69-4560-B75C-17FCBFDB1A0A}"/>
              </a:ext>
            </a:extLst>
          </p:cNvPr>
          <p:cNvGrpSpPr/>
          <p:nvPr/>
        </p:nvGrpSpPr>
        <p:grpSpPr>
          <a:xfrm>
            <a:off x="595884" y="3175180"/>
            <a:ext cx="11234081" cy="493776"/>
            <a:chOff x="595884" y="3175180"/>
            <a:chExt cx="11234081" cy="493776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A9BD6C8B-BA04-4CD5-A684-FB7989A3071D}"/>
                </a:ext>
              </a:extLst>
            </p:cNvPr>
            <p:cNvSpPr/>
            <p:nvPr/>
          </p:nvSpPr>
          <p:spPr>
            <a:xfrm>
              <a:off x="595884" y="3252904"/>
              <a:ext cx="941832" cy="338328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7A04C2-416C-4038-9352-8E14E41B159E}"/>
                </a:ext>
              </a:extLst>
            </p:cNvPr>
            <p:cNvSpPr/>
            <p:nvPr/>
          </p:nvSpPr>
          <p:spPr>
            <a:xfrm>
              <a:off x="2061027" y="3175180"/>
              <a:ext cx="9768938" cy="4937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</a:rPr>
                <a:t>Break Encapsulation.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9AA2E-D2DD-49D2-B8E0-EAE5D6C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68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B9F859-CD0B-4C89-9F9C-FF69A99763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558352-2B1C-49AF-B29D-9598517B775E}"/>
              </a:ext>
            </a:extLst>
          </p:cNvPr>
          <p:cNvSpPr/>
          <p:nvPr/>
        </p:nvSpPr>
        <p:spPr>
          <a:xfrm>
            <a:off x="-1002889" y="-1209371"/>
            <a:ext cx="7747820" cy="203527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solidFill>
                <a:srgbClr val="FF0000"/>
              </a:solidFill>
              <a:latin typeface="Fredoka One" panose="02000000000000000000" pitchFamily="2" charset="0"/>
            </a:endParaRPr>
          </a:p>
          <a:p>
            <a:endParaRPr lang="es-ES" sz="3600" b="1" dirty="0">
              <a:solidFill>
                <a:srgbClr val="FF0000"/>
              </a:solidFill>
              <a:latin typeface="Fredoka One" panose="02000000000000000000" pitchFamily="2" charset="0"/>
            </a:endParaRP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3600" b="1" dirty="0">
                <a:solidFill>
                  <a:srgbClr val="FF0000"/>
                </a:solidFill>
              </a:rPr>
              <a:t>RELATED TEMPLATES</a:t>
            </a:r>
          </a:p>
          <a:p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6979E0-662B-4808-AD18-6DF2A5DACCED}"/>
              </a:ext>
            </a:extLst>
          </p:cNvPr>
          <p:cNvSpPr/>
          <p:nvPr/>
        </p:nvSpPr>
        <p:spPr>
          <a:xfrm>
            <a:off x="-1002889" y="6164827"/>
            <a:ext cx="12506632" cy="299883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9AA2E-D2DD-49D2-B8E0-EAE5D6C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10</a:t>
            </a:fld>
            <a:endParaRPr lang="en-US"/>
          </a:p>
        </p:txBody>
      </p:sp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8863649D-90BD-45DF-B9F8-7A0E9C67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14759" y="1045472"/>
            <a:ext cx="6801708" cy="439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701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B9F859-CD0B-4C89-9F9C-FF69A99763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558352-2B1C-49AF-B29D-9598517B775E}"/>
              </a:ext>
            </a:extLst>
          </p:cNvPr>
          <p:cNvSpPr/>
          <p:nvPr/>
        </p:nvSpPr>
        <p:spPr>
          <a:xfrm>
            <a:off x="-1002889" y="-1209371"/>
            <a:ext cx="7747820" cy="203527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solidFill>
                <a:srgbClr val="FF0000"/>
              </a:solidFill>
              <a:latin typeface="Fredoka One" panose="02000000000000000000" pitchFamily="2" charset="0"/>
            </a:endParaRPr>
          </a:p>
          <a:p>
            <a:endParaRPr lang="es-ES" sz="3600" b="1" dirty="0">
              <a:solidFill>
                <a:srgbClr val="FF0000"/>
              </a:solidFill>
              <a:latin typeface="Fredoka One" panose="02000000000000000000" pitchFamily="2" charset="0"/>
            </a:endParaRP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3600" b="1" dirty="0">
                <a:solidFill>
                  <a:srgbClr val="FF0000"/>
                </a:solidFill>
              </a:rPr>
              <a:t>RELATED TEMPLATES</a:t>
            </a:r>
          </a:p>
          <a:p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6979E0-662B-4808-AD18-6DF2A5DACCED}"/>
              </a:ext>
            </a:extLst>
          </p:cNvPr>
          <p:cNvSpPr/>
          <p:nvPr/>
        </p:nvSpPr>
        <p:spPr>
          <a:xfrm>
            <a:off x="-1002889" y="6164827"/>
            <a:ext cx="12506632" cy="299883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9AA2E-D2DD-49D2-B8E0-EAE5D6C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DECED9-148E-4E76-BAEE-8D08B0E83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675" y="886836"/>
            <a:ext cx="7747820" cy="548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993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B9F859-CD0B-4C89-9F9C-FF69A9976316}"/>
              </a:ext>
            </a:extLst>
          </p:cNvPr>
          <p:cNvSpPr/>
          <p:nvPr/>
        </p:nvSpPr>
        <p:spPr>
          <a:xfrm>
            <a:off x="-223044" y="0"/>
            <a:ext cx="12399928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6979E0-662B-4808-AD18-6DF2A5DACCED}"/>
              </a:ext>
            </a:extLst>
          </p:cNvPr>
          <p:cNvSpPr/>
          <p:nvPr/>
        </p:nvSpPr>
        <p:spPr>
          <a:xfrm>
            <a:off x="-1002889" y="6164827"/>
            <a:ext cx="12506632" cy="299883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9AA2E-D2DD-49D2-B8E0-EAE5D6C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F0C2C7-75EC-4690-9E72-E384EC062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844" y="571943"/>
            <a:ext cx="6654152" cy="3886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5E0DBF-B945-49F7-B8DC-8D7010E1BD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59" y="4844328"/>
            <a:ext cx="3336576" cy="1078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0D73D4-7491-4276-81CF-DB0B1B6AA4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55622">
            <a:off x="-482484" y="-203841"/>
            <a:ext cx="2582118" cy="223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7326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02723-4D65-43B6-B809-75377285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7D45-B738-4F8A-9639-98C08AF3993F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748A34-AEE6-4950-95BB-A8680E0A2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100" y="3863975"/>
            <a:ext cx="3390900" cy="285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3EF3A5-B250-4284-891B-1A63D39B3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95" y="480437"/>
            <a:ext cx="9500547" cy="534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2013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355</Words>
  <Application>Microsoft Office PowerPoint</Application>
  <PresentationFormat>Widescreen</PresentationFormat>
  <Paragraphs>95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Fredoka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Châu Nhàn</dc:creator>
  <cp:lastModifiedBy>Châu Nhàn</cp:lastModifiedBy>
  <cp:revision>41</cp:revision>
  <dcterms:created xsi:type="dcterms:W3CDTF">2020-06-15T03:48:17Z</dcterms:created>
  <dcterms:modified xsi:type="dcterms:W3CDTF">2020-06-18T09:23:53Z</dcterms:modified>
</cp:coreProperties>
</file>